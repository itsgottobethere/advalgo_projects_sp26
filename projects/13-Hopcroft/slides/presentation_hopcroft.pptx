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495F12-09D0-4657-AF9E-FFA82B5A3489}">
  <a:tblStyle styleId="{8F495F12-09D0-4657-AF9E-FFA82B5A34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atevidyalay.com/minimization-of-dfa-minimize-dfa-example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Vo_q3ygV68QcPF7HJQQonMeZIwX8UdXMgrc0GI4QKKY/edit?usp=sharing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Vo_q3ygV68QcPF7HJQQonMeZIwX8UdXMgrc0GI4QKKY/edit?usp=sharing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Vo_q3ygV68QcPF7HJQQonMeZIwX8UdXMgrc0GI4QKKY/edit?usp=sharing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Vo_q3ygV68QcPF7HJQQonMeZIwX8UdXMgrc0GI4QKKY/edit?usp=sharing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Vo_q3ygV68QcPF7HJQQonMeZIwX8UdXMgrc0GI4QKKY/edit?usp=sharing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eemit.com/programming/@drifter1/writing-a-simple-compiler-on-my-own-lexical-analysis-using-flex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329e581d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329e581d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329e58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9329e58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https://www.gatevidyalay.com/minimization-of-dfa-minimize-dfa-example/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9329e58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9329e58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9329e581d_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9329e581d_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329e581d_7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9329e581d_7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329e581d_7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9329e581d_7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https://docs.google.com/document/d/1Vo_q3ygV68QcPF7HJQQonMeZIwX8UdXMgrc0GI4QKKY/edit?usp=sharing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329e581d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9329e581d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https://docs.google.com/document/d/1Vo_q3ygV68QcPF7HJQQonMeZIwX8UdXMgrc0GI4QKKY/edit?usp=sharing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329e581d_8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329e581d_8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https://docs.google.com/document/d/1Vo_q3ygV68QcPF7HJQQonMeZIwX8UdXMgrc0GI4QKKY/edit?usp=sharing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9734557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9734557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https://docs.google.com/document/d/1Vo_q3ygV68QcPF7HJQQonMeZIwX8UdXMgrc0GI4QKKY/edit?usp=sharing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97345575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97345575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https://docs.google.com/document/d/1Vo_q3ygV68QcPF7HJQQonMeZIwX8UdXMgrc0GI4QKKY/edit?usp=sharing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9329e581d_6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9329e581d_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9329e581d_6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9329e581d_6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repeatedly split groups until all states in a group behave identically for every input and the worklist gets empty.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9329e581d_6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9329e581d_6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9329e581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9329e581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9329e581d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9329e581d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9329e581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9329e581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https://steemit.com/programming/@drifter1/writing-a-simple-compiler-on-my-own-lexical-analysis-using-flex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Hopcroft's Algorithm (DFA Minimization)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 Cao (David), Brian Tran, Yog Tadhani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Deterministic Finite Automaton (DFA)?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7832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DFA reads input symbols one at a time and changes states based on fixed transition rules.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each state and input symbol, there is exactly one possible next state, making it deterministic.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Consists of: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Set of states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Input Alphabet (Σ)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ransition function (δ)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Start </a:t>
            </a:r>
            <a:r>
              <a:rPr lang="en">
                <a:solidFill>
                  <a:schemeClr val="dk1"/>
                </a:solidFill>
              </a:rPr>
              <a:t>state (q₀)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Accept states (F)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 title="Screenshot 2026-04-24 at 2.50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525" y="3431525"/>
            <a:ext cx="5150900" cy="158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570625" y="1017725"/>
            <a:ext cx="2865900" cy="24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DFA Accepts: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“” (empty)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0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001111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0*1*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Rejects: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101 or 01000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&amp; Goal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221225" y="1017725"/>
            <a:ext cx="5905800" cy="3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DFA Minimization Problem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Goal: Reduce </a:t>
            </a:r>
            <a:r>
              <a:rPr lang="en">
                <a:solidFill>
                  <a:schemeClr val="dk1"/>
                </a:solidFill>
              </a:rPr>
              <a:t>the</a:t>
            </a:r>
            <a:r>
              <a:rPr lang="en">
                <a:solidFill>
                  <a:schemeClr val="dk1"/>
                </a:solidFill>
              </a:rPr>
              <a:t> number of states in a DFA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Must preserve the same language (same behavior)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Some states are redundant or equivalent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Equivalent states behave the same for all inputs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can merge these states to simplify the DFA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Challenge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Need to do this efficiently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Naive methods compare every pair of states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Leads to slow runtime: O(n²)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820" y="710795"/>
            <a:ext cx="2946800" cy="2151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5"/>
          <p:cNvCxnSpPr>
            <a:stCxn id="70" idx="2"/>
            <a:endCxn id="72" idx="0"/>
          </p:cNvCxnSpPr>
          <p:nvPr/>
        </p:nvCxnSpPr>
        <p:spPr>
          <a:xfrm>
            <a:off x="7534220" y="2862145"/>
            <a:ext cx="0" cy="89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5"/>
          <p:cNvSpPr txBox="1"/>
          <p:nvPr/>
        </p:nvSpPr>
        <p:spPr>
          <a:xfrm>
            <a:off x="6409675" y="4492625"/>
            <a:ext cx="22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Minimal DFA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63775" l="0" r="0" t="0"/>
          <a:stretch/>
        </p:blipFill>
        <p:spPr>
          <a:xfrm>
            <a:off x="6060824" y="3758240"/>
            <a:ext cx="2946800" cy="770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243900" y="1225425"/>
            <a:ext cx="330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 = ({q0, q1, q2, q3, q4, q5}, {0,1}, 𝛿, q0, {q2,q5})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150" y="841225"/>
            <a:ext cx="4717470" cy="41042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16"/>
          <p:cNvGraphicFramePr/>
          <p:nvPr/>
        </p:nvGraphicFramePr>
        <p:xfrm>
          <a:off x="719925" y="217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{8F495F12-09D0-4657-AF9E-FFA82B5A3489}</a:tableStyleId>
              </a:tblPr>
              <a:tblGrid>
                <a:gridCol w="568125"/>
                <a:gridCol w="568125"/>
                <a:gridCol w="568125"/>
              </a:tblGrid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311700" y="1156225"/>
            <a:ext cx="2919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Remove any unreachable states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In our case none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950" y="445025"/>
            <a:ext cx="4717470" cy="41042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" name="Google Shape;90;p17"/>
          <p:cNvGraphicFramePr/>
          <p:nvPr/>
        </p:nvGraphicFramePr>
        <p:xfrm>
          <a:off x="719925" y="217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{8F495F12-09D0-4657-AF9E-FFA82B5A3489}</a:tableStyleId>
              </a:tblPr>
              <a:tblGrid>
                <a:gridCol w="568125"/>
                <a:gridCol w="568125"/>
                <a:gridCol w="568125"/>
              </a:tblGrid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162925" y="1139350"/>
            <a:ext cx="343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Partition into accept and non-accept states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950" y="445025"/>
            <a:ext cx="4717470" cy="41042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598650" y="1999875"/>
            <a:ext cx="2394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Initial Partition </a:t>
            </a:r>
            <a:r>
              <a:rPr lang="en" sz="1800">
                <a:solidFill>
                  <a:schemeClr val="dk1"/>
                </a:solidFill>
              </a:rPr>
              <a:t>Sets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</a:t>
            </a:r>
            <a:r>
              <a:rPr lang="en" sz="1800">
                <a:solidFill>
                  <a:schemeClr val="dk1"/>
                </a:solidFill>
              </a:rPr>
              <a:t>{q0, q1, q3, q4} 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Pick the smallest partition to form a worklist.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= {</a:t>
            </a: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aphicFrame>
        <p:nvGraphicFramePr>
          <p:cNvPr id="104" name="Google Shape;104;p19"/>
          <p:cNvGraphicFramePr/>
          <p:nvPr/>
        </p:nvGraphicFramePr>
        <p:xfrm>
          <a:off x="3937413" y="11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{8F495F12-09D0-4657-AF9E-FFA82B5A3489}</a:tableStyleId>
              </a:tblPr>
              <a:tblGrid>
                <a:gridCol w="568125"/>
                <a:gridCol w="568125"/>
                <a:gridCol w="568125"/>
              </a:tblGrid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" name="Google Shape;105;p19"/>
          <p:cNvSpPr txBox="1"/>
          <p:nvPr/>
        </p:nvSpPr>
        <p:spPr>
          <a:xfrm>
            <a:off x="363150" y="1091500"/>
            <a:ext cx="37617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Partitions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{q0, q1, 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= {} 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Current splitter: {</a:t>
            </a: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Predecessors: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 symbol 0: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 state goes to q2 or q5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 symbol 1: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</a:t>
            </a:r>
            <a:r>
              <a:rPr lang="en" sz="1800">
                <a:solidFill>
                  <a:schemeClr val="dk1"/>
                </a:solidFill>
              </a:rPr>
              <a:t>{q2, q3, q4, q5} go to q2 or q5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6149700" y="1581250"/>
            <a:ext cx="2682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Resulting sets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{q2, q3, q4, q5},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{q0, q1, 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aphicFrame>
        <p:nvGraphicFramePr>
          <p:cNvPr id="112" name="Google Shape;112;p20"/>
          <p:cNvGraphicFramePr/>
          <p:nvPr/>
        </p:nvGraphicFramePr>
        <p:xfrm>
          <a:off x="4343425" y="11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{8F495F12-09D0-4657-AF9E-FFA82B5A3489}</a:tableStyleId>
              </a:tblPr>
              <a:tblGrid>
                <a:gridCol w="568125"/>
                <a:gridCol w="568125"/>
                <a:gridCol w="568125"/>
              </a:tblGrid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" name="Google Shape;113;p20"/>
          <p:cNvSpPr txBox="1"/>
          <p:nvPr/>
        </p:nvSpPr>
        <p:spPr>
          <a:xfrm>
            <a:off x="363150" y="1091500"/>
            <a:ext cx="3909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{q2, q3, q4, q5},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{q0, q1, 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Compare predecessors </a:t>
            </a:r>
            <a:r>
              <a:rPr lang="en" sz="1800">
                <a:solidFill>
                  <a:schemeClr val="dk1"/>
                </a:solidFill>
              </a:rPr>
              <a:t>to our original partitions.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Our goal is to find states that behave differently </a:t>
            </a:r>
            <a:r>
              <a:rPr lang="en" sz="1800">
                <a:solidFill>
                  <a:schemeClr val="dk1"/>
                </a:solidFill>
              </a:rPr>
              <a:t>for the </a:t>
            </a:r>
            <a:r>
              <a:rPr lang="en" sz="1800">
                <a:solidFill>
                  <a:schemeClr val="dk1"/>
                </a:solidFill>
              </a:rPr>
              <a:t>specific splitter.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is fully included in X so no split.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 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, only q3 and q4 are in X, so we split 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6373800" y="1091500"/>
            <a:ext cx="2458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New 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pick the smallest partition (size of 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</a:t>
            </a: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arbitrary)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= {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} 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aphicFrame>
        <p:nvGraphicFramePr>
          <p:cNvPr id="120" name="Google Shape;120;p21"/>
          <p:cNvGraphicFramePr/>
          <p:nvPr/>
        </p:nvGraphicFramePr>
        <p:xfrm>
          <a:off x="4038725" y="11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{8F495F12-09D0-4657-AF9E-FFA82B5A3489}</a:tableStyleId>
              </a:tblPr>
              <a:tblGrid>
                <a:gridCol w="568125"/>
                <a:gridCol w="568125"/>
                <a:gridCol w="568125"/>
              </a:tblGrid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1" name="Google Shape;121;p21"/>
          <p:cNvSpPr txBox="1"/>
          <p:nvPr/>
        </p:nvSpPr>
        <p:spPr>
          <a:xfrm>
            <a:off x="363150" y="1091500"/>
            <a:ext cx="3761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Worklist: {}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Current splitter: {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}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 symbol 0: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{q3, q4} go to q3 or q4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and </a:t>
            </a: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no intersection with X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is fully included in X, no split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6149700" y="1324075"/>
            <a:ext cx="2682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Resulting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partitions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aphicFrame>
        <p:nvGraphicFramePr>
          <p:cNvPr id="128" name="Google Shape;128;p22"/>
          <p:cNvGraphicFramePr/>
          <p:nvPr/>
        </p:nvGraphicFramePr>
        <p:xfrm>
          <a:off x="4048625" y="11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{8F495F12-09D0-4657-AF9E-FFA82B5A3489}</a:tableStyleId>
              </a:tblPr>
              <a:tblGrid>
                <a:gridCol w="568125"/>
                <a:gridCol w="568125"/>
                <a:gridCol w="568125"/>
              </a:tblGrid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BF9000"/>
                          </a:highlight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BF9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BF9000"/>
                          </a:highlight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BF9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" name="Google Shape;129;p22"/>
          <p:cNvSpPr txBox="1"/>
          <p:nvPr/>
        </p:nvSpPr>
        <p:spPr>
          <a:xfrm>
            <a:off x="363150" y="1091500"/>
            <a:ext cx="37617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Worklist: {}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Current splitter: {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 symbol 1: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{q0, q1} go to q3 or q4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and </a:t>
            </a: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no </a:t>
            </a:r>
            <a:r>
              <a:rPr lang="en" sz="1800">
                <a:solidFill>
                  <a:schemeClr val="dk1"/>
                </a:solidFill>
              </a:rPr>
              <a:t>intersection</a:t>
            </a:r>
            <a:r>
              <a:rPr lang="en" sz="1800">
                <a:solidFill>
                  <a:schemeClr val="dk1"/>
                </a:solidFill>
              </a:rPr>
              <a:t> with X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is fully included in X, no split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6149700" y="1324075"/>
            <a:ext cx="2682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Resulting</a:t>
            </a:r>
            <a:r>
              <a:rPr lang="en" sz="1800">
                <a:solidFill>
                  <a:schemeClr val="dk1"/>
                </a:solidFill>
              </a:rPr>
              <a:t> 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 conflicts so nothing added to worklist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= {}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empty, we’re done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363150" y="1091500"/>
            <a:ext cx="37617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Final </a:t>
            </a:r>
            <a:r>
              <a:rPr lang="en" sz="1800">
                <a:solidFill>
                  <a:schemeClr val="dk1"/>
                </a:solidFill>
              </a:rPr>
              <a:t>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States are grouped that behave the same in relation to other partitions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Each partition can be represented by a single state.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2200" y="445026"/>
            <a:ext cx="4420750" cy="3907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23"/>
          <p:cNvGraphicFramePr/>
          <p:nvPr/>
        </p:nvGraphicFramePr>
        <p:xfrm>
          <a:off x="2503163" y="87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{8F495F12-09D0-4657-AF9E-FFA82B5A3489}</a:tableStyleId>
              </a:tblPr>
              <a:tblGrid>
                <a:gridCol w="568125"/>
                <a:gridCol w="568125"/>
                <a:gridCol w="568125"/>
              </a:tblGrid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37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Initial </a:t>
            </a:r>
            <a:r>
              <a:rPr lang="en"/>
              <a:t>Partitioning</a:t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395100" y="1030363"/>
            <a:ext cx="394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Add accepting and non-accepting set of states to Partition set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Add the smaller of the two sets to Worklist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95100" y="2681575"/>
            <a:ext cx="3944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Precompute Predecessor List for faster lookup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</a:rPr>
              <a:t>Ex: </a:t>
            </a:r>
            <a:endParaRPr sz="18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Instead of: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q0 --1--&gt; q2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Store: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(q2, 1) → {q0}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6" name="Google Shape;146;p24" title="Screenshot 2026-04-26 at 12.27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603" y="998675"/>
            <a:ext cx="4732549" cy="38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/>
          <p:nvPr/>
        </p:nvSpPr>
        <p:spPr>
          <a:xfrm>
            <a:off x="4902325" y="1591200"/>
            <a:ext cx="2590200" cy="96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4902325" y="3680500"/>
            <a:ext cx="3807600" cy="96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4902325" y="2635850"/>
            <a:ext cx="2590200" cy="96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71200" y="427225"/>
            <a:ext cx="370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</a:t>
            </a:r>
            <a:r>
              <a:rPr lang="en"/>
              <a:t>Splitting</a:t>
            </a:r>
            <a:endParaRPr/>
          </a:p>
        </p:txBody>
      </p:sp>
      <p:pic>
        <p:nvPicPr>
          <p:cNvPr id="155" name="Google Shape;155;p25" title="Screenshot 2026-04-24 at 3.0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695" y="0"/>
            <a:ext cx="533030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 txBox="1"/>
          <p:nvPr/>
        </p:nvSpPr>
        <p:spPr>
          <a:xfrm>
            <a:off x="212800" y="1338425"/>
            <a:ext cx="360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Find X = states that go INTO splitter on this symbol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171700" y="2355750"/>
            <a:ext cx="360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Divide group into: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States that go into splitter (&amp;)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States that don’t (-)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4927325" y="2146675"/>
            <a:ext cx="3475500" cy="269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4701925" y="1136025"/>
            <a:ext cx="4166400" cy="71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5"/>
          <p:cNvSpPr/>
          <p:nvPr/>
        </p:nvSpPr>
        <p:spPr>
          <a:xfrm>
            <a:off x="4927325" y="2432675"/>
            <a:ext cx="3483600" cy="43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212800" y="3649975"/>
            <a:ext cx="360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both states behave differently: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Split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Add to updated partition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198475" y="328000"/>
            <a:ext cx="3426600" cy="8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List Update W/ Split</a:t>
            </a:r>
            <a:endParaRPr/>
          </a:p>
        </p:txBody>
      </p:sp>
      <p:pic>
        <p:nvPicPr>
          <p:cNvPr id="167" name="Google Shape;167;p26" title="Screenshot 2026-04-24 at 3.0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695" y="0"/>
            <a:ext cx="533030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/>
          <p:nvPr/>
        </p:nvSpPr>
        <p:spPr>
          <a:xfrm>
            <a:off x="5173950" y="2975325"/>
            <a:ext cx="2665800" cy="60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6"/>
          <p:cNvSpPr txBox="1"/>
          <p:nvPr/>
        </p:nvSpPr>
        <p:spPr>
          <a:xfrm>
            <a:off x="198475" y="1434800"/>
            <a:ext cx="361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</a:rPr>
              <a:t>Worklist Update:</a:t>
            </a:r>
            <a:endParaRPr sz="18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Case 1: Group already in worklist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Replace it with both splits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Case 2: Not in worklist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Add only the smaller list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5173950" y="3584025"/>
            <a:ext cx="3771900" cy="72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4925700" y="4304025"/>
            <a:ext cx="2021100" cy="27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198475" y="3261150"/>
            <a:ext cx="342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no split: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Keep the group as is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198475" y="4256500"/>
            <a:ext cx="34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Update partition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4704025" y="4580925"/>
            <a:ext cx="2242800" cy="17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- 1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311700" y="1152475"/>
            <a:ext cx="3541500" cy="37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Time complexity:</a:t>
            </a:r>
            <a:br>
              <a:rPr lang="en">
                <a:solidFill>
                  <a:srgbClr val="FFFFFF"/>
                </a:solidFill>
              </a:rPr>
            </a:br>
            <a:r>
              <a:rPr lang="en">
                <a:solidFill>
                  <a:srgbClr val="FFFFFF"/>
                </a:solidFill>
              </a:rPr>
              <a:t>Worse case: O(</a:t>
            </a:r>
            <a:r>
              <a:rPr i="1" lang="en">
                <a:solidFill>
                  <a:srgbClr val="FFFFFF"/>
                </a:solidFill>
              </a:rPr>
              <a:t>nslogn</a:t>
            </a:r>
            <a:r>
              <a:rPr lang="en">
                <a:solidFill>
                  <a:srgbClr val="FFFFFF"/>
                </a:solidFill>
              </a:rPr>
              <a:t>)</a:t>
            </a:r>
            <a:br>
              <a:rPr lang="en">
                <a:solidFill>
                  <a:srgbClr val="FFFFFF"/>
                </a:solidFill>
              </a:rPr>
            </a:br>
            <a:r>
              <a:rPr lang="en">
                <a:solidFill>
                  <a:srgbClr val="FFFFFF"/>
                </a:solidFill>
              </a:rPr>
              <a:t>Usually run way faster in practice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Reason: we are adding the smaller set each step, thus reducing the number of state processed by half each time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- the number of states</a:t>
            </a:r>
            <a:br>
              <a:rPr lang="en">
                <a:solidFill>
                  <a:srgbClr val="FFFFFF"/>
                </a:solidFill>
              </a:rPr>
            </a:br>
            <a:r>
              <a:rPr lang="en">
                <a:solidFill>
                  <a:srgbClr val="FFFFFF"/>
                </a:solidFill>
              </a:rPr>
              <a:t>s</a:t>
            </a:r>
            <a:r>
              <a:rPr lang="en">
                <a:solidFill>
                  <a:srgbClr val="FFFFFF"/>
                </a:solidFill>
              </a:rPr>
              <a:t> - the size of alphabet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81" name="Google Shape;181;p27" title="Screenshot 2026-04-24 at 3.0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695" y="0"/>
            <a:ext cx="533030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- 2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311700" y="1152475"/>
            <a:ext cx="3884700" cy="37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Space complexity: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O(</a:t>
            </a:r>
            <a:r>
              <a:rPr i="1" lang="en">
                <a:solidFill>
                  <a:srgbClr val="FFFFFF"/>
                </a:solidFill>
              </a:rPr>
              <a:t>ns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Due to the predecessors map/dictionary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n - the number of states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s - the size of alphabet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88" name="Google Shape;188;p28" title="Screenshot 2026-04-26 at 12.27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503" y="642625"/>
            <a:ext cx="4732549" cy="38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Application</a:t>
            </a:r>
            <a:endParaRPr/>
          </a:p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311700" y="1168975"/>
            <a:ext cx="4966500" cy="38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Why Do We Care?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Smaller DFAs = 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Less memory usage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Faster execution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Used in real-world systems like compilers</a:t>
            </a:r>
            <a:endParaRPr>
              <a:solidFill>
                <a:srgbClr val="FFFFFF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○"/>
            </a:pPr>
            <a:r>
              <a:rPr lang="en" sz="1900">
                <a:solidFill>
                  <a:srgbClr val="FFFFFF"/>
                </a:solidFill>
              </a:rPr>
              <a:t>Scan every character in a program</a:t>
            </a:r>
            <a:endParaRPr sz="1900">
              <a:solidFill>
                <a:srgbClr val="FFFFFF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○"/>
            </a:pPr>
            <a:r>
              <a:rPr lang="en" sz="1900">
                <a:solidFill>
                  <a:srgbClr val="FFFFFF"/>
                </a:solidFill>
              </a:rPr>
              <a:t>Faster DFA → faster processing</a:t>
            </a:r>
            <a:endParaRPr sz="19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Large DFAs can slow things down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Efficient algorithms (like Hopcroft’s) help solve this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175" y="1485224"/>
            <a:ext cx="3624149" cy="217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